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2933"/>
                </a:solidFill>
                <a:latin typeface="Arial"/>
              </a:rPr>
              <a:t>박동 수 정확 일치율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일반 조건 (30 fps, 노이즈 ≤10)</c:v>
                </c:pt>
              </c:strCache>
            </c:strRef>
          </c:tx>
          <c:spPr>
            <a:solidFill>
              <a:srgbClr val="7A1F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reference</c:v>
                  </c:pt>
                  <c:pt idx="1">
                    <c:v>consecutive</c:v>
                  </c:pt>
                  <c:pt idx="2">
                    <c:v>piv</c:v>
                  </c:pt>
                  <c:pt idx="3">
                    <c:v>optical_flow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</c:v>
                </c:pt>
                <c:pt idx="1">
                  <c:v>100</c:v>
                </c:pt>
                <c:pt idx="2">
                  <c:v>92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전체 (10 fps·노이즈 20 포함)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reference</c:v>
                  </c:pt>
                  <c:pt idx="1">
                    <c:v>consecutive</c:v>
                  </c:pt>
                  <c:pt idx="2">
                    <c:v>piv</c:v>
                  </c:pt>
                  <c:pt idx="3">
                    <c:v>optical_flow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61</c:v>
                </c:pt>
                <c:pt idx="1">
                  <c:v>84</c:v>
                </c:pt>
                <c:pt idx="2">
                  <c:v>69</c:v>
                </c:pt>
                <c:pt idx="3">
                  <c:v>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앱의 사용 순서와 각 결과 지표의 뜻을 정리한 자료입니다.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097280"/>
            <a:ext cx="4023360" cy="4023360"/>
          </a:xfrm>
          <a:prstGeom prst="ellipse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3108960"/>
            <a:ext cx="2377440" cy="23774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Cardiomyocyte Analyzer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프로토콜과 결과 지표 안내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박동(수축) · 칼슘 이미징 · 형태 · 그룹 비교 · 검증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06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Soah Lee Lab, SKKU  ·  2026-09  ·  버전 08b6078 기준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앱이 하는 일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현미경 영상(mp4)을 올리면 브라우저에서 바로 분석하고, 그림·CSV·JSON으로 결과를 내려받습니다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35608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920240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밝은 시야 영상에서 수축/이완 신호를 뽑아 박동 수, BPM, 진폭, 수축·이완 시간, 속도 지표를 계산. 신호 방식 4가지.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" y="141732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4173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박동 분석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10712" y="1435608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10712" y="1920240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형광 강도를 ΔF/F₀로 정규화해 트랜지언트 빈도, 진폭, 상승·감쇠 시간, CTD50/90, τ를 계산. 배경 빼기와 픽셀 지도 포함.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10712" y="141732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10712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886200" y="14173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칼슘 이미징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35040" y="13258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99632" y="1435608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199632" y="1920240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세포/구조체를 분할해 개수, 면적·부피, 이심률, 정렬도(구조 텐서)를 계산. Z-스택은 3D로.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99632" y="141732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99632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14173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형태 분석 (2D/3D)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1546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" y="3264408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3749040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영상을 그룹으로 묶어 비모수/모수 검정, 사후검정, LMM(배치 보정)까지 자동. 논문 형식 그림 출력.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" y="324612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32461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그룹 비교 · 통계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246120" y="31546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10712" y="3264408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3410712" y="3749040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 분석 CSV와 Fiji 등 기준 도구 값을 넣어 Pearson, ICC, Bland-Altman 일치도 분석. 두 채널 colocalization.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10712" y="324612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410712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886200" y="32461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· Colocalization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035040" y="31546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199632" y="32918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분석은 서버에서 계산되고 결과는 /results 폴더(옵션: Supabase)에 남습니다. 비밀번호 보호 가능.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Cardiomyocyte Analyzer · 분석 프로토콜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촬영 권장 조건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좋은 결과의 절반은 촬영에서 정해집니다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30 fps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031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프레임 속도. 권장 60 fps.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fps는 모든 방식이 실패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371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s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21031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길이. 박동 10개 이상이면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평균이 안정 (느리면 30–40 s)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371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3,000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1031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분석되는 최대 프레임 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(60 fps × 50 s). 초과분은 잘림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1371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원본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21031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현미경 소프트웨어가 저장한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원본(TIFF/무압축) 사용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97180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박동 하나(0.3–0.5 s)에 프레임이 10장 이상 들어가야 봉우리 모양과 속도 지표가 잡힙니다.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초점·스테이지가 안정된 뒤 촬영하거나 앞 2–3 s를 잘라내세요 (tools/shrink_video.py --start).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 모드는 세포 표면의 반점/알갱이 무늬(텍스처)가 있어야 합니다. 앱이 부족하면 경고합니다.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재인코딩(화면 녹화, 메신저 전송)은 fps와 화질을 바꿉니다. 파일 fps가 실제와 다르면 'FPS 강제 지정'에 실제 값을 넣으세요.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결과표의 '프레임 속도(fps)'로 앱이 읽은 값을 확인할 수 있습니다.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Cardiomyocyte Analyzer · 분석 프로토콜 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프로토콜 (한 영상)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박동 분석 탭 기준 — 칼슘·형태 탭도 같은 흐름입니다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298448" cy="1828800"/>
          </a:xfrm>
          <a:prstGeom prst="roundRect">
            <a:avLst>
              <a:gd name="adj" fmla="val 5634"/>
            </a:avLst>
          </a:prstGeom>
          <a:solidFill>
            <a:srgbClr val="FBE9E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527048"/>
            <a:ext cx="384048" cy="384048"/>
          </a:xfrm>
          <a:prstGeom prst="ellipse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1168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업로드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59152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mp4 선택. 첫 프레임 미리보기가 뜸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47088" y="1417320"/>
            <a:ext cx="1298448" cy="1828800"/>
          </a:xfrm>
          <a:prstGeom prst="roundRect">
            <a:avLst>
              <a:gd name="adj" fmla="val 563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56816" y="1527048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56816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938528" y="201168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신호 방식 선택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938528" y="2359152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reference(기본) / consecutive / piv / optical_flow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36976" y="1417320"/>
            <a:ext cx="1298448" cy="1828800"/>
          </a:xfrm>
          <a:prstGeom prst="roundRect">
            <a:avLst>
              <a:gd name="adj" fmla="val 5634"/>
            </a:avLst>
          </a:prstGeom>
          <a:solidFill>
            <a:srgbClr val="FBE9E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46704" y="1527048"/>
            <a:ext cx="384048" cy="384048"/>
          </a:xfrm>
          <a:prstGeom prst="ellipse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46704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328416" y="201168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지정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328416" y="2359152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미리보기에서 드래그. 배경·어두운 중심부 제외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26864" y="1417320"/>
            <a:ext cx="1298448" cy="1828800"/>
          </a:xfrm>
          <a:prstGeom prst="roundRect">
            <a:avLst>
              <a:gd name="adj" fmla="val 563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36592" y="1527048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36592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718304" y="201168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파라미터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718304" y="2359152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피크 민감도 0.05–0.2, fps 확인, (광류) µm/px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16752" y="1417320"/>
            <a:ext cx="1298448" cy="1828800"/>
          </a:xfrm>
          <a:prstGeom prst="roundRect">
            <a:avLst>
              <a:gd name="adj" fmla="val 5634"/>
            </a:avLst>
          </a:prstGeom>
          <a:solidFill>
            <a:srgbClr val="FBE9E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1527048"/>
            <a:ext cx="384048" cy="384048"/>
          </a:xfrm>
          <a:prstGeom prst="ellipse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2648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08192" y="201168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실행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108192" y="2359152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그림 + 요약표. 박동 수가 눈으로 센 것과 맞는지 확인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406640" y="1417320"/>
            <a:ext cx="1298448" cy="1828800"/>
          </a:xfrm>
          <a:prstGeom prst="roundRect">
            <a:avLst>
              <a:gd name="adj" fmla="val 563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16368" y="1527048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16368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498080" y="201168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저장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498080" y="2359152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PNG(300 dpi)·SVG·CSV(박동별)·JSON(요약)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결과가 이상할 때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박동이 너무 많이 잡힘(노이즈) → 피크 민감도를 올림(0.2–0.3)   ·   너무 적음(약한 박동 누락) → 내림(0.05–0.1)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BPM이 통째로 이상함 → fps가 실제와 다른지 확인 → 'FPS 강제 지정'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 텍스처 경고 → reference 또는 optical_flow 모드로 재분석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 움직임/부유물이 섞임 → ROI로 조직만 지정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Cardiomyocyte Analyzer · 분석 프로토콜 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박동 신호 방식 4가지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영상의 움직임을 숫자로 바꾸는 방법이 다르고, 그래서 얻는 지표가 다릅니다</a:t>
            </a:r>
            <a:endParaRPr lang="en-US" sz="1200" dirty="0"/>
          </a:p>
        </p:txBody>
      </p:sp>
      <p:pic>
        <p:nvPicPr>
          <p:cNvPr id="4" name="Image 0" descr="/tmp/claude-0/-home-user-n8n/7b9d6c12-691f-5b28-9147-ab4657efa51a/scratchpad/deck/fig_mo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1975104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286000"/>
                <a:gridCol w="1554480"/>
                <a:gridCol w="1920240"/>
                <a:gridCol w="13716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원리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신호 성격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얻는 것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쓸 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이완기 기준 프레임과의 차이 (MUSCLEMOTION)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변위형, 박동당 봉우리 1개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진폭·수축/이완 시간·T10/50/90 (a.u.)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Fiji와 비교·검증, 기본값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consecutive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바로 앞 프레임과의 차이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속도형, 봉우리 2개 가능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위와 같음 (a.u.)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노이즈 심한 영상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piv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 px 창별 상호상관 → 변위 벡터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속도형 + 방향 벡터장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벡터장 그림, 텍스처 진단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방향성 그림이 필요할 때 (느림)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optical_flow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Farneback 광류 → 픽셀별 벡터 (ContractionWave)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속도형, 수축파+이완파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MCS·MRS 등 µm/s 속도 지표, CT/RT/CRT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속도·µm 단위 지표, 그룹 비교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Cardiomyocyte Analyzer · 분석 프로토콜 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방식별 정확도 (합성 벤치마크)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정답을 아는 합성 영상 360개 × 4방식 — 박동 수가 정확히 맞은 비율(%)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3444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234440"/>
            <a:ext cx="2834640" cy="1600200"/>
          </a:xfrm>
          <a:prstGeom prst="roundRect">
            <a:avLst>
              <a:gd name="adj" fmla="val 45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16752" y="1344168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016752" y="1655064"/>
            <a:ext cx="250545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Fiji MUSCLEMOTION과 비교·검증 → reference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속도·µm 지표, 품질이 들쑥날쑥 → optical_flow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방향 벡터장 그림 → piv (텍스처 경고 시 X)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852160" y="3017520"/>
            <a:ext cx="2834640" cy="1600200"/>
          </a:xfrm>
          <a:prstGeom prst="roundRect">
            <a:avLst>
              <a:gd name="adj" fmla="val 45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16752" y="3127248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주의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016752" y="3438144"/>
            <a:ext cx="250545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fps는 전부 실패 → 30 fps 이상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노이즈 심하면 reference가 무너짐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합성 결과임. 실제 영상 검증은 reference만 Fiji와 일치 확인됨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Cardiomyocyte Analyzer · 분석 프로토콜 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박동 지표의 뜻 (reference · consecutive · piv)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박동의 신호에서 읽는 값들 — 요약표는 박동별 값의 평균</a:t>
            </a:r>
            <a:endParaRPr lang="en-US" sz="1200" dirty="0"/>
          </a:p>
        </p:txBody>
      </p:sp>
      <p:pic>
        <p:nvPicPr>
          <p:cNvPr id="4" name="Image 0" descr="/tmp/claude-0/-home-user-n8n/7b9d6c12-691f-5b28-9147-ab4657efa51a/scratchpad/deck/fig_b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4480560" cy="224028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188720"/>
          <a:ext cx="37490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5146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박동 수 / BPM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검출된 봉우리 수 / 박동 간격(IBI)의 평균에서 60 ÷ IBI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IBI CV (%)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박동 간격의 변동계수. 클수록 불규칙(부정맥 경향)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진폭 (a.u.)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봉우리 − 기준선. 같은 조건 안에서만 비교 (임의 단위)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수축 시간 (s)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기준선 출발 → 봉우리. 이완 시간: 봉우리 → 다음 기준선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최대 수축/이완 속도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신호 기울기의 최댓값 (a.u./s)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T10 / T50 / T90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봉우리에서 진폭의 10 / 50 / 90 %가 회복되는 데 걸린 시간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611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 모드는 여기에 벡터장 그림과 텍스처 진단(piv_median_window_std, 제외된 창 수)이 더해집니다. 진폭 단위는 픽셀(변위)입니다.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해석 팁: 약물이 '수축력'에 미치는 효과는 진폭·최대 수축 속도, '이완 기능'은 T50/T90·이완 시간, '리듬'은 BPM·IBI CV로 봅니다.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Cardiomyocyte Analyzer · 분석 프로토콜 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optical_flow 지표의 뜻 (ContractionWave 파라미터)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속도 곡선에는 박동마다 수축파와 이완파 두 봉우리가 생깁니다</a:t>
            </a:r>
            <a:endParaRPr lang="en-US" sz="1200" dirty="0"/>
          </a:p>
        </p:txBody>
      </p:sp>
      <p:pic>
        <p:nvPicPr>
          <p:cNvPr id="4" name="Image 0" descr="/tmp/claude-0/-home-user-n8n/7b9d6c12-691f-5b28-9147-ab4657efa51a/scratchpad/deck/fig_sp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4480560" cy="224028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188720"/>
          <a:ext cx="37490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74320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MCS / MRS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최대 수축 속도 / 최대 이완 속도 (µm/s, 픽셀 크기 없으면 px/s)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파형 시작 → MCS (수축 time-to-peak)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CTPMS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MCS → 두 봉우리 사이 최소 속도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 / 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수축 시간 (CTP+CTPMS) / 이완 시간 (RTP+RTPB)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수축-이완 전체 시간 = CT + 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TBC-RMS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MCS와 MRS 사이 시간 간격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CRA / SA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속도 곡선 아래 면적 = 이동 경로 길이(µm). SA는 수축 구간만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611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파형 시작/끝은 기준선(속도 10번째 백분위수)보다 신호 범위의 10 %만큼 높은 지점을 넘는 곳. 이완파를 못 찾으면 complete_wave=false로 표시되고 이완 지표는 비게 됩니다.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해석 팁: MCS↓·CRA↓는 수축력 저하, RT↑·MRS↓는 이완 지연(예: 이완기 기능 장애 모델), TBC-RMS는 수축 지속의 지표로 씁니다.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Cardiomyocyte Analyzer · 분석 프로토콜 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칼슘 이미징 지표의 뜻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형광 강도 → ΔF/F₀ (F₀ = 강도의 10번째 백분위수). 배경 빼기: 없음 / 자동(가장 어두운 5 % 픽셀) / 수동 ROI</a:t>
            </a:r>
            <a:endParaRPr lang="en-US" sz="1200" dirty="0"/>
          </a:p>
        </p:txBody>
      </p:sp>
      <p:pic>
        <p:nvPicPr>
          <p:cNvPr id="4" name="Image 0" descr="/tmp/claude-0/-home-user-n8n/7b9d6c12-691f-5b28-9147-ab4657efa51a/scratchpad/deck/fig_calci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4480560" cy="224028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234440"/>
          <a:ext cx="37490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37744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빈도 (Hz, /min)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트랜지언트 간격의 평균에서 계산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진폭 ΔF/F₀ (평균·최대)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봉우리 높이. F₀ 대비 상대값이라 영상 간 비교 가능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start-to-peak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시작 → 봉우리 (Ca²⁺ 방출 속도)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peak-to-end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봉우리 → 끝 (재흡수/제거 속도)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시작 → 끝 전체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CTD50 / CTD90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진폭 50 % 높이에서의 폭 / 90 % 감쇠(10 % 높이)에서의 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rise 10–90 %, τ, T10/50/90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상승 시간 / 지수 감쇠 시간상수 / 감쇠 시간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611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그림 오른쪽의 픽셀 지도(peak ΔF/F₀ map)는 화면 어디에서 신호가 나는지 보여줍니다. 배경 빼기 방식은 요약의 background_method에 기록됩니다.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해석 팁: CTD50/90·τ 증가는 Ca²⁺ 제거 지연(SERCA/NCX 기능 저하), 진폭 감소는 SR 저장량·방출 감소를 시사합니다.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Cardiomyocyte Analyzer · 분석 프로토콜 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형태 분석 · Colocalization 지표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픽셀/복셀 단위 (µm 환산 기능은 광류 속도에만 있음)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89888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형태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700784"/>
            <a:ext cx="2322576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n_objects: 분할된 객체 수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mean/median area (px²): 객체 면적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eccentricity: 0=원, 1=선. 길쭉함 정도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fraction: 화면 중 객체가 덮은 비율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score (0–1)·mean orientation: 객체 장축의 정렬도와 평균 방향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texture alignment·coherence: 구조 텐서로 본 근원섬유 방향 정렬 (분할 없이)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46120" y="128016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10712" y="1389888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형태 (Z-스택)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410712" y="1700784"/>
            <a:ext cx="2322576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mean/median/total volume (voxels)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shape (Z, Y, X)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score 3D·mean direction (Z,Y,X)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texture alignment 3D·fractional anisotropy (FA, 0–1): 3D 구조 텐서 비등방성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옵션: 붙은 객체 분리(watershed), 최소 객체 크기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128016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99632" y="1389888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Colocalization (두 채널)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199632" y="1700784"/>
            <a:ext cx="2322576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Pearson r: 두 채널 강도의 선형 상관 (−1~1)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Manders M1/M2: A 신호 중 B 양성 영역에 있는 비율 / 그 반대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Manders overlap coefficient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A/B (Otsu)·양성 픽셀 비율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해석: Pearson은 강도 비례 관계, Manders는 공간적 겹침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Cardiomyocyte Analyzer · 분석 프로토콜 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그룹 비교와 통계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그룹당 영상 3개 이상(가능하면 5–6개). n=1이면 p-value가 의미 없음</a:t>
            </a:r>
            <a:endParaRPr lang="en-US" sz="1200" dirty="0"/>
          </a:p>
        </p:txBody>
      </p:sp>
      <p:pic>
        <p:nvPicPr>
          <p:cNvPr id="4" name="Image 0" descr="/tmp/claude-0/-home-user-n8n/7b9d6c12-691f-5b28-9147-ab4657efa51a/scratchpad/deck/fig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4937760" cy="3429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0" y="1188720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비모수(기본): 2그룹 Mann-Whitney U, 3+그룹 Kruskal-Wallis + Dunn(Bonferroni). n&lt;8이면 정규성 검정력이 낮아 기본값.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모수: Welch t / one-way ANOVA + Tukey HSD (Prism 방식). Welch ANOVA, Shapiro p도 함께 표시.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배치/샘플 라벨을 넣으면 LMM(value ~ group + (1|sample))로 pseudoreplication 보정 p-value 추가.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그림: 막대=평균, 오차막대=SEM 또는 SD(선택), 점=영상, 브래킷=대조군(첫 그룹) 대비 p. 숫자/별표 선택, 막대 색 선택.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출력: PNG 300 dpi + SVG(Illustrator 편집용), CSV(영상별 값), JSON(모든 쌍 p-value).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박동 신호 방식과 µm/px는 그룹 비교 폼에서 따로 고릅니다(기본 reference).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Cardiomyocyte Analyzer · 분석 프로토콜 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파일과 해석 체크리스트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298448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plot.png / plot.svg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609344"/>
            <a:ext cx="23225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신호 트레이스 + 검출된 봉우리(·), 기준선(▼). PIV/광류는 벡터장 패널 추가. 그룹 비교는 논문형 다중 패널.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46120" y="11887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10712" y="1298448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data.csv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410712" y="1609344"/>
            <a:ext cx="23225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박동별(또는 트랜지언트별·객체별) 한 줄씩. Prism/Excel로 바로 가져가기. 그룹 비교는 영상별 요약 + 그룹 열.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99632" y="1298448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summary.json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199632" y="1609344"/>
            <a:ext cx="23225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 지표 전부 + 사용한 설정(신호 방식, fps, 스무딩 창, 피크 민감도, ROI). 논문 Methods에 쓸 값.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834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후 확인할 것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200400"/>
            <a:ext cx="8229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그림의 봉우리 수가 눈으로 센 박동 수와 맞는가? (틀리면 피크 민감도 조정)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프레임 속도(fps)가 실제 촬영 값인가? (BPM·모든 시간 지표가 여기에 달림)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 텍스처 경고, ROI 적용 여부, 광류의 complete_wave 수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방식(reference + optical_flow)으로 교차 확인했을 때 BPM이 일치하는가?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그룹 비교: 그룹당 n, 오차막대 종류(SEM/SD), 사용 검정을 캡션대로 논문에 기재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Cardiomyocyte Analyzer · 분석 프로토콜 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프로토콜 (논문용)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영상을 기준 도구로도 분석해 일치도를 보입니다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84048" cy="384048"/>
          </a:xfrm>
          <a:prstGeom prst="ellipse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234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기준 도구로 분석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2344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Fiji MUSCLEMOTION(박동), ContractionWave(광류 속도), PIV-MyoMonitor(PIV). 같은 영상 10개 이상.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배치 분석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0116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탭 1단계: 영상들을 한 번에 올려 영상별 CSV 생성 (방식별로 반복).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384048" cy="384048"/>
          </a:xfrm>
          <a:prstGeom prst="ellipse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788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값 나란히 놓기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27889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CSV에 기준 도구 값을 열로 붙임 (예: bpm_app, bpm_fiji).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566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일치도 분석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35661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탭 2단계: Pearson r, ICC(2,1), Bland-Altman bias·95 % LoA, 회귀. 그림 자동 생성.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34340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434340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정의가 다른 지표는 그대로 비교하지 마세요: 앱의 수축 시간은 기준선→봉우리, MUSCLEMOTION은 10 % 기준 지속시간. 진폭은 비율(처치/대조)로만 비교.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Cardiomyocyte Analyzer · 분석 프로토콜 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참고 문헌 · 도구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 L. et al. MUSCLEMOTION: a versatile open software tool to quantify cardiomyocyte and cardiac muscle contraction in vitro and in vivo. Circulation Research 2018.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Scalzo S. et al. Dense optical flow software to quantify cellular contractility (CONTRACTIONWAVE). Cell Reports Methods 2021. doi:10.1016/j.crmeth.2021.100044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PIV-MyoMonitor (Soah Lee Lab): PIV-based contractility analysis for cardiac organoids. Front. Bioeng. Biotechnol. 2024. github.com/soahleelab/PIV-MyoMonitor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Thielicke W. &amp; Stamhuis E. PIVlab. J. Open Res. Softw. 2014.  ·  BeatProfiler (calcium/contraction parameter definitions).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저장소: github.com/heasilmoon/cardiomyocyte-analyzer  ·  README에 모든 지표·API·검증 워크플로 설명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863840" y="3840480"/>
            <a:ext cx="1737360" cy="1737360"/>
          </a:xfrm>
          <a:prstGeom prst="ellipse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Cardiomyocyte Analyzer — 분석 프로토콜과 결과 지표</dc:title>
  <dc:subject>PptxGenJS Presentation</dc:subject>
  <dc:creator>Soah Lee Lab</dc:creator>
  <cp:lastModifiedBy>Soah Lee Lab</cp:lastModifiedBy>
  <cp:revision>1</cp:revision>
  <dcterms:created xsi:type="dcterms:W3CDTF">2026-09-29T12:22:42Z</dcterms:created>
  <dcterms:modified xsi:type="dcterms:W3CDTF">2026-09-29T12:22:42Z</dcterms:modified>
</cp:coreProperties>
</file>